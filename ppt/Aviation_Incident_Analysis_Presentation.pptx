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5014071-B3C6-4FAC-AD54-8C289F507C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6B9D92-7E62-48FD-89A9-D83C74A5E9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15F80E8-1A8E-43BD-8F5C-87BB303C3F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025B73-0C25-41C0-BAC7-07435F66D8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0235FE-19DE-463F-816E-2A1D34F0D0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62884C-BEA9-4CD6-9FE8-0C096B1A62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9298D2-51DD-4238-900F-E08F237688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7D595F-54B3-4C41-BB46-5A43667AFF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926DF8-FFDD-41C7-B4B8-C8CFF3C301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B31CA0-CADF-4757-9509-936EF3CAC6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C878294-46E8-4964-B306-132E43BFDC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583680"/>
            <a:ext cx="12191040" cy="7236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48640" y="1371600"/>
            <a:ext cx="54000" cy="16452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1371600"/>
            <a:ext cx="9143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AI-Powered Aviation Incident Analysis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210312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and Contributing Factor Discovery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914400" y="292608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End-to-End NLP/ML Web Application for Unsupervised Safety Analytics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914400" y="3657600"/>
            <a:ext cx="2742480" cy="2664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914400" y="3931920"/>
            <a:ext cx="54856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Research Project · B.Tech Computer Science &amp; Engineering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914400" y="429768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ABES Engineering College, Ghaziabad · Session 2026–27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914400" y="47548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Garvit Singh (2400320100462) · Divyansh Yadav (2400320100444) · Section CSE-17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914400" y="51206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Guide: Ms. Shweta Singh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2" descr="media_1790019863627.png"/>
          <p:cNvPicPr/>
          <p:nvPr/>
        </p:nvPicPr>
        <p:blipFill>
          <a:blip r:embed="rId1"/>
          <a:stretch/>
        </p:blipFill>
        <p:spPr>
          <a:xfrm>
            <a:off x="35964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73152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Table of Contents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731520" y="914400"/>
            <a:ext cx="13708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ounded Rectangle 4"/>
          <p:cNvSpPr/>
          <p:nvPr/>
        </p:nvSpPr>
        <p:spPr>
          <a:xfrm>
            <a:off x="914400" y="141732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1417320" y="137160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 &amp; Problem Statement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6217920" y="141732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6720840" y="137160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Literature Survey Completed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8"/>
          <p:cNvSpPr/>
          <p:nvPr/>
        </p:nvSpPr>
        <p:spPr>
          <a:xfrm>
            <a:off x="914400" y="201168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1417320" y="196596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 Architecture / Design Finalized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0"/>
          <p:cNvSpPr/>
          <p:nvPr/>
        </p:nvSpPr>
        <p:spPr>
          <a:xfrm>
            <a:off x="6217920" y="201168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6720840" y="196596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Dataset and Tools Identified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2"/>
          <p:cNvSpPr/>
          <p:nvPr/>
        </p:nvSpPr>
        <p:spPr>
          <a:xfrm>
            <a:off x="914400" y="260604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1417320" y="256032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Methodology and Work Plan Prepared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4"/>
          <p:cNvSpPr/>
          <p:nvPr/>
        </p:nvSpPr>
        <p:spPr>
          <a:xfrm>
            <a:off x="6217920" y="260604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6720840" y="256032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14-Stage NLP Pipeline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6"/>
          <p:cNvSpPr/>
          <p:nvPr/>
        </p:nvSpPr>
        <p:spPr>
          <a:xfrm>
            <a:off x="914400" y="320040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7"/>
          <p:cNvSpPr/>
          <p:nvPr/>
        </p:nvSpPr>
        <p:spPr>
          <a:xfrm>
            <a:off x="1417320" y="315468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Tech Stack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8"/>
          <p:cNvSpPr/>
          <p:nvPr/>
        </p:nvSpPr>
        <p:spPr>
          <a:xfrm>
            <a:off x="6217920" y="320040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6720840" y="315468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Key Features &amp; Dashboard Views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20"/>
          <p:cNvSpPr/>
          <p:nvPr/>
        </p:nvSpPr>
        <p:spPr>
          <a:xfrm>
            <a:off x="914400" y="3794760"/>
            <a:ext cx="365040" cy="31932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3"/>
          <p:cNvSpPr/>
          <p:nvPr/>
        </p:nvSpPr>
        <p:spPr>
          <a:xfrm>
            <a:off x="1371600" y="370368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Conclusion &amp; Future 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24" descr="media_1790019863627.png"/>
          <p:cNvPicPr/>
          <p:nvPr/>
        </p:nvPicPr>
        <p:blipFill>
          <a:blip r:embed="rId1"/>
          <a:stretch/>
        </p:blipFill>
        <p:spPr>
          <a:xfrm>
            <a:off x="131040" y="22896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73152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 &amp; Problem Statement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731520" y="1280160"/>
            <a:ext cx="5211720" cy="23770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905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005840" y="13716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The Problem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1005840" y="1828800"/>
            <a:ext cx="45712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Aviation safety reports are dense, unstructured prose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Reading reports one at a time hides systemic patterns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Manual analysis is slow and prone to human bias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 scalable way to discover recurring contributing factors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6172200" y="1280160"/>
            <a:ext cx="5165640" cy="23770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905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6492240" y="13716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Our 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6492240" y="1828800"/>
            <a:ext cx="45712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Unsupervised NLP/ML pipeline — no labelled data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BERTopic + UMAP + HDBSCAN for topic discovery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KMeans clustering over sentence embeddings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401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Interactive dashboard with semantic 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731520" y="384048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Key Questions Answered: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1"/>
          <p:cNvSpPr/>
          <p:nvPr/>
        </p:nvSpPr>
        <p:spPr>
          <a:xfrm>
            <a:off x="731520" y="4389120"/>
            <a:ext cx="338256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868680" y="44622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What themes recur?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868680" y="48006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7-theme safety taxonomy from discovered topics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4"/>
          <p:cNvSpPr/>
          <p:nvPr/>
        </p:nvSpPr>
        <p:spPr>
          <a:xfrm>
            <a:off x="4389120" y="4389120"/>
            <a:ext cx="338256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4526280" y="44622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What are the latent topics?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4526280" y="48006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BERTopic validated against classical LDA baseline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7"/>
          <p:cNvSpPr/>
          <p:nvPr/>
        </p:nvSpPr>
        <p:spPr>
          <a:xfrm>
            <a:off x="8046720" y="4389120"/>
            <a:ext cx="338256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8183880" y="446220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How do incidents cluster?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8183880" y="480060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KMeans over sentence embeddings → 2-D semantic 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20"/>
          <p:cNvSpPr/>
          <p:nvPr/>
        </p:nvSpPr>
        <p:spPr>
          <a:xfrm>
            <a:off x="731520" y="5486400"/>
            <a:ext cx="338256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868680" y="55594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Contributing factors?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2"/>
          <p:cNvSpPr/>
          <p:nvPr/>
        </p:nvSpPr>
        <p:spPr>
          <a:xfrm>
            <a:off x="868680" y="589788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Factor ranking + co-occurrence network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23"/>
          <p:cNvSpPr/>
          <p:nvPr/>
        </p:nvSpPr>
        <p:spPr>
          <a:xfrm>
            <a:off x="4389120" y="5486400"/>
            <a:ext cx="338256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4526280" y="55594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How are factors trending?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5"/>
          <p:cNvSpPr/>
          <p:nvPr/>
        </p:nvSpPr>
        <p:spPr>
          <a:xfrm>
            <a:off x="4526280" y="589788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Per-theme trajectories with rising/falling signals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26"/>
          <p:cNvSpPr/>
          <p:nvPr/>
        </p:nvSpPr>
        <p:spPr>
          <a:xfrm>
            <a:off x="8046720" y="5486400"/>
            <a:ext cx="338256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8183880" y="55594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Find similar reports?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8"/>
          <p:cNvSpPr/>
          <p:nvPr/>
        </p:nvSpPr>
        <p:spPr>
          <a:xfrm>
            <a:off x="8183880" y="5897880"/>
            <a:ext cx="31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Semantic search matching concepts, not keywords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29" descr="media_1790019863627.png"/>
          <p:cNvPicPr/>
          <p:nvPr/>
        </p:nvPicPr>
        <p:blipFill>
          <a:blip r:embed="rId1"/>
          <a:stretch/>
        </p:blipFill>
        <p:spPr>
          <a:xfrm>
            <a:off x="13104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731520" y="365760"/>
            <a:ext cx="9143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Literature Survey Completed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4"/>
          <p:cNvSpPr/>
          <p:nvPr/>
        </p:nvSpPr>
        <p:spPr>
          <a:xfrm>
            <a:off x="457200" y="1280160"/>
            <a:ext cx="3474000" cy="228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Oval 5"/>
          <p:cNvSpPr/>
          <p:nvPr/>
        </p:nvSpPr>
        <p:spPr>
          <a:xfrm>
            <a:off x="685800" y="1508760"/>
            <a:ext cx="502200" cy="50220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1325880" y="137160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Topic Modelling Approaches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325880" y="1828800"/>
            <a:ext cx="2422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Surveyed LDA (Blei et al. 2003), NMF, and neural topic models. Selected BERTopic (Grootendorst 2022) for leveraging transformer embeddings with UMAP dimensionality reduction and HDBSCAN density-based clustering, producing more coherent topics than bag-of-words methods.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4206240" y="1280160"/>
            <a:ext cx="3474000" cy="228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Oval 9"/>
          <p:cNvSpPr/>
          <p:nvPr/>
        </p:nvSpPr>
        <p:spPr>
          <a:xfrm>
            <a:off x="4434840" y="1508760"/>
            <a:ext cx="502200" cy="50220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5074920" y="146304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Text Embedding Techniques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5074920" y="2012760"/>
            <a:ext cx="2422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Reviewed Word2Vec, GloVe, ELMo, and sentence-transformers. Chose all-MiniLM-L6-v2 (384-d) for its balance of quality and speed. Also implemented TF-IDF + SVD fallback for lightweight deployment.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2"/>
          <p:cNvSpPr/>
          <p:nvPr/>
        </p:nvSpPr>
        <p:spPr>
          <a:xfrm>
            <a:off x="7955280" y="1280160"/>
            <a:ext cx="3474000" cy="228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Oval 13"/>
          <p:cNvSpPr/>
          <p:nvPr/>
        </p:nvSpPr>
        <p:spPr>
          <a:xfrm>
            <a:off x="8183880" y="1508760"/>
            <a:ext cx="502200" cy="50220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8823960" y="146304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Clustering in NLP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8823960" y="1828800"/>
            <a:ext cx="2422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Compared KMeans, DBSCAN, and Agglomerative clustering on embedded text. KMeans selected for interpretability; cluster quality validated via Silhouette Score (intrinsic, label-free metric).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16"/>
          <p:cNvSpPr/>
          <p:nvPr/>
        </p:nvSpPr>
        <p:spPr>
          <a:xfrm>
            <a:off x="457200" y="3840480"/>
            <a:ext cx="3474000" cy="228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Oval 17"/>
          <p:cNvSpPr/>
          <p:nvPr/>
        </p:nvSpPr>
        <p:spPr>
          <a:xfrm>
            <a:off x="685800" y="4069080"/>
            <a:ext cx="502200" cy="50220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8"/>
          <p:cNvSpPr/>
          <p:nvPr/>
        </p:nvSpPr>
        <p:spPr>
          <a:xfrm>
            <a:off x="1325880" y="402336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Aviation Safety Text Mining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1325880" y="4572000"/>
            <a:ext cx="2422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Studied NTSB/ASRS report analysis pipelines and prior work on contributing factor extraction from incident narratives using named entity recognition and pattern-based factor identification.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20"/>
          <p:cNvSpPr/>
          <p:nvPr/>
        </p:nvSpPr>
        <p:spPr>
          <a:xfrm>
            <a:off x="4206240" y="3840480"/>
            <a:ext cx="3474000" cy="228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Oval 21"/>
          <p:cNvSpPr/>
          <p:nvPr/>
        </p:nvSpPr>
        <p:spPr>
          <a:xfrm>
            <a:off x="4434840" y="4069080"/>
            <a:ext cx="502200" cy="50220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2"/>
          <p:cNvSpPr/>
          <p:nvPr/>
        </p:nvSpPr>
        <p:spPr>
          <a:xfrm>
            <a:off x="5074920" y="402336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Unsupervised Factor Discovery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3"/>
          <p:cNvSpPr/>
          <p:nvPr/>
        </p:nvSpPr>
        <p:spPr>
          <a:xfrm>
            <a:off x="5074920" y="4572000"/>
            <a:ext cx="2422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Explored co-occurrence analysis techniques (count, lift, Jaccard) for discovering relationships between contributing factors without supervision, enabling automated safety-pattern detection.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24"/>
          <p:cNvSpPr/>
          <p:nvPr/>
        </p:nvSpPr>
        <p:spPr>
          <a:xfrm>
            <a:off x="7955280" y="3840480"/>
            <a:ext cx="3474000" cy="228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Oval 25"/>
          <p:cNvSpPr/>
          <p:nvPr/>
        </p:nvSpPr>
        <p:spPr>
          <a:xfrm>
            <a:off x="8183880" y="4069080"/>
            <a:ext cx="502200" cy="50220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6"/>
          <p:cNvSpPr/>
          <p:nvPr/>
        </p:nvSpPr>
        <p:spPr>
          <a:xfrm>
            <a:off x="8823960" y="4023360"/>
            <a:ext cx="2422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Semantic Search in Corpora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7"/>
          <p:cNvSpPr/>
          <p:nvPr/>
        </p:nvSpPr>
        <p:spPr>
          <a:xfrm>
            <a:off x="8823960" y="4572000"/>
            <a:ext cx="24224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Reviewed keyword (BM25) vs. dense retrieval approaches. Implemented cosine-similarity search over L2-normalised embeddings for concept-level matching (e.g., 'engine fire' finds 'powerplant blaze').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28" descr="media_1790019863627.png"/>
          <p:cNvPicPr/>
          <p:nvPr/>
        </p:nvPicPr>
        <p:blipFill>
          <a:blip r:embed="rId1"/>
          <a:stretch/>
        </p:blipFill>
        <p:spPr>
          <a:xfrm>
            <a:off x="13104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914400" y="336240"/>
            <a:ext cx="10057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 Architecture / Design Finalized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Picture 28" descr="media_1790019863627.png"/>
          <p:cNvPicPr/>
          <p:nvPr/>
        </p:nvPicPr>
        <p:blipFill>
          <a:blip r:embed="rId1"/>
          <a:stretch/>
        </p:blipFill>
        <p:spPr>
          <a:xfrm>
            <a:off x="22860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/>
          <p:cNvPicPr/>
          <p:nvPr/>
        </p:nvPicPr>
        <p:blipFill>
          <a:blip r:embed="rId2"/>
          <a:stretch/>
        </p:blipFill>
        <p:spPr>
          <a:xfrm>
            <a:off x="2628720" y="1204200"/>
            <a:ext cx="7429320" cy="542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915120" y="365760"/>
            <a:ext cx="9143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Dataset and Tools Identified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4"/>
          <p:cNvSpPr/>
          <p:nvPr/>
        </p:nvSpPr>
        <p:spPr>
          <a:xfrm>
            <a:off x="548640" y="1280160"/>
            <a:ext cx="5302800" cy="28342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905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822960" y="137160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📊  Dataset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822960" y="1828800"/>
            <a:ext cx="48456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20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Synthetic corpus: ~480 aviation incident narratives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0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Deterministic generation — fully reproducible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0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Dataset-agnostic: supports real NTSB / NASA ASRS CSV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0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Set AV_DATASET_CSV to point at real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2001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Pipeline rebuilds identical analysis on any corpus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6217920" y="128016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🛠️  Tools &amp; Libraries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6217920" y="18288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Backend — 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9"/>
          <p:cNvSpPr/>
          <p:nvPr/>
        </p:nvSpPr>
        <p:spPr>
          <a:xfrm>
            <a:off x="6583680" y="21488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FastAPI + uvicorn (web framework &amp; server)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6583680" y="24048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sentence-transformers — all-MiniLM-L6-v2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1"/>
          <p:cNvSpPr/>
          <p:nvPr/>
        </p:nvSpPr>
        <p:spPr>
          <a:xfrm>
            <a:off x="6583680" y="266076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BERTopic (UMAP + HDBSCAN + c-TF-IDF)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2"/>
          <p:cNvSpPr/>
          <p:nvPr/>
        </p:nvSpPr>
        <p:spPr>
          <a:xfrm>
            <a:off x="6583680" y="29170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spaCy — en_core_web_sm (NER)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3"/>
          <p:cNvSpPr/>
          <p:nvPr/>
        </p:nvSpPr>
        <p:spPr>
          <a:xfrm>
            <a:off x="6583680" y="31730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scikit-learn (KMeans, LDA, TF-IDF+SVD)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4"/>
          <p:cNvSpPr/>
          <p:nvPr/>
        </p:nvSpPr>
        <p:spPr>
          <a:xfrm>
            <a:off x="6583680" y="34290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NumPy, pandas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5"/>
          <p:cNvSpPr/>
          <p:nvPr/>
        </p:nvSpPr>
        <p:spPr>
          <a:xfrm>
            <a:off x="6217920" y="38221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7C00"/>
                </a:solidFill>
                <a:effectLst/>
                <a:uFillTx/>
                <a:latin typeface="Calibri"/>
              </a:rPr>
              <a:t>Frontend — JavaScript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6"/>
          <p:cNvSpPr/>
          <p:nvPr/>
        </p:nvSpPr>
        <p:spPr>
          <a:xfrm>
            <a:off x="6583680" y="414216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React 18 + Vite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7"/>
          <p:cNvSpPr/>
          <p:nvPr/>
        </p:nvSpPr>
        <p:spPr>
          <a:xfrm>
            <a:off x="6583680" y="43981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Custom SVG charts (no charting library)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8"/>
          <p:cNvSpPr/>
          <p:nvPr/>
        </p:nvSpPr>
        <p:spPr>
          <a:xfrm>
            <a:off x="6583680" y="46544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Hash routing + React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9"/>
          <p:cNvSpPr/>
          <p:nvPr/>
        </p:nvSpPr>
        <p:spPr>
          <a:xfrm>
            <a:off x="6583680" y="49104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Colorblind-safe data-viz design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0"/>
          <p:cNvSpPr/>
          <p:nvPr/>
        </p:nvSpPr>
        <p:spPr>
          <a:xfrm>
            <a:off x="6217920" y="530352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D32F2F"/>
                </a:solidFill>
                <a:effectLst/>
                <a:uFillTx/>
                <a:latin typeface="Calibri"/>
              </a:rPr>
              <a:t>DevOps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1"/>
          <p:cNvSpPr/>
          <p:nvPr/>
        </p:nvSpPr>
        <p:spPr>
          <a:xfrm>
            <a:off x="6583680" y="562356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Docker + docker-compose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2"/>
          <p:cNvSpPr/>
          <p:nvPr/>
        </p:nvSpPr>
        <p:spPr>
          <a:xfrm>
            <a:off x="6583680" y="58795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•  Multi-stage build (Node → Python)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23" descr="media_1790019863627.png"/>
          <p:cNvPicPr/>
          <p:nvPr/>
        </p:nvPicPr>
        <p:blipFill>
          <a:blip r:embed="rId1"/>
          <a:stretch/>
        </p:blipFill>
        <p:spPr>
          <a:xfrm>
            <a:off x="13140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914400" y="365760"/>
            <a:ext cx="9143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Methodology and Work Plan Prepared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ounded Rectangle 4"/>
          <p:cNvSpPr/>
          <p:nvPr/>
        </p:nvSpPr>
        <p:spPr>
          <a:xfrm>
            <a:off x="365760" y="1280160"/>
            <a:ext cx="178236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5"/>
          <p:cNvSpPr/>
          <p:nvPr/>
        </p:nvSpPr>
        <p:spPr>
          <a:xfrm>
            <a:off x="365760" y="1280160"/>
            <a:ext cx="1782360" cy="5022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457200" y="13258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7"/>
          <p:cNvSpPr/>
          <p:nvPr/>
        </p:nvSpPr>
        <p:spPr>
          <a:xfrm>
            <a:off x="457200" y="187452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Data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457200" y="2286000"/>
            <a:ext cx="1599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Collect / generate corpus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Clean &amp; preprocess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NLP tokenization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9"/>
          <p:cNvSpPr/>
          <p:nvPr/>
        </p:nvSpPr>
        <p:spPr>
          <a:xfrm>
            <a:off x="2148840" y="21945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0"/>
          <p:cNvSpPr/>
          <p:nvPr/>
        </p:nvSpPr>
        <p:spPr>
          <a:xfrm>
            <a:off x="2286000" y="1280160"/>
            <a:ext cx="178236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11"/>
          <p:cNvSpPr/>
          <p:nvPr/>
        </p:nvSpPr>
        <p:spPr>
          <a:xfrm>
            <a:off x="2286000" y="1280160"/>
            <a:ext cx="1782360" cy="5022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2377440" y="13258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3"/>
          <p:cNvSpPr/>
          <p:nvPr/>
        </p:nvSpPr>
        <p:spPr>
          <a:xfrm>
            <a:off x="2377440" y="187452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Feature Extraction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4"/>
          <p:cNvSpPr/>
          <p:nvPr/>
        </p:nvSpPr>
        <p:spPr>
          <a:xfrm>
            <a:off x="2377440" y="2286000"/>
            <a:ext cx="1599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Sentence embeddings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Named Entity Recognition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TF-IDF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5"/>
          <p:cNvSpPr/>
          <p:nvPr/>
        </p:nvSpPr>
        <p:spPr>
          <a:xfrm>
            <a:off x="4069080" y="21945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6"/>
          <p:cNvSpPr/>
          <p:nvPr/>
        </p:nvSpPr>
        <p:spPr>
          <a:xfrm>
            <a:off x="4206240" y="1280160"/>
            <a:ext cx="178236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57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7"/>
          <p:cNvSpPr/>
          <p:nvPr/>
        </p:nvSpPr>
        <p:spPr>
          <a:xfrm>
            <a:off x="4206240" y="1280160"/>
            <a:ext cx="1782360" cy="502200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8"/>
          <p:cNvSpPr/>
          <p:nvPr/>
        </p:nvSpPr>
        <p:spPr>
          <a:xfrm>
            <a:off x="4297680" y="13258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9"/>
          <p:cNvSpPr/>
          <p:nvPr/>
        </p:nvSpPr>
        <p:spPr>
          <a:xfrm>
            <a:off x="4297680" y="187452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57C00"/>
                </a:solidFill>
                <a:effectLst/>
                <a:uFillTx/>
                <a:latin typeface="Calibri"/>
              </a:rPr>
              <a:t>Unsupervised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0"/>
          <p:cNvSpPr/>
          <p:nvPr/>
        </p:nvSpPr>
        <p:spPr>
          <a:xfrm>
            <a:off x="4297680" y="2286000"/>
            <a:ext cx="1599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BERTopic + LDA topics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KMeans clustering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Factor extraction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1"/>
          <p:cNvSpPr/>
          <p:nvPr/>
        </p:nvSpPr>
        <p:spPr>
          <a:xfrm>
            <a:off x="5989320" y="21945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22"/>
          <p:cNvSpPr/>
          <p:nvPr/>
        </p:nvSpPr>
        <p:spPr>
          <a:xfrm>
            <a:off x="6126480" y="1280160"/>
            <a:ext cx="178236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D32F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23"/>
          <p:cNvSpPr/>
          <p:nvPr/>
        </p:nvSpPr>
        <p:spPr>
          <a:xfrm>
            <a:off x="6126480" y="1280160"/>
            <a:ext cx="1782360" cy="502200"/>
          </a:xfrm>
          <a:prstGeom prst="rect">
            <a:avLst/>
          </a:prstGeom>
          <a:solidFill>
            <a:srgbClr val="D32F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4"/>
          <p:cNvSpPr/>
          <p:nvPr/>
        </p:nvSpPr>
        <p:spPr>
          <a:xfrm>
            <a:off x="6217920" y="13258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5"/>
          <p:cNvSpPr/>
          <p:nvPr/>
        </p:nvSpPr>
        <p:spPr>
          <a:xfrm>
            <a:off x="6217920" y="187452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32F2F"/>
                </a:solidFill>
                <a:effectLst/>
                <a:uFillTx/>
                <a:latin typeface="Calibri"/>
              </a:rPr>
              <a:t>Relationship Mining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6"/>
          <p:cNvSpPr/>
          <p:nvPr/>
        </p:nvSpPr>
        <p:spPr>
          <a:xfrm>
            <a:off x="6217920" y="2286000"/>
            <a:ext cx="1599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Co-occurrence network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Lift &amp; Jaccard metrics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Trend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7"/>
          <p:cNvSpPr/>
          <p:nvPr/>
        </p:nvSpPr>
        <p:spPr>
          <a:xfrm>
            <a:off x="7909560" y="21945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28"/>
          <p:cNvSpPr/>
          <p:nvPr/>
        </p:nvSpPr>
        <p:spPr>
          <a:xfrm>
            <a:off x="8046720" y="1280160"/>
            <a:ext cx="178236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29"/>
          <p:cNvSpPr/>
          <p:nvPr/>
        </p:nvSpPr>
        <p:spPr>
          <a:xfrm>
            <a:off x="8046720" y="1280160"/>
            <a:ext cx="1782360" cy="502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30"/>
          <p:cNvSpPr/>
          <p:nvPr/>
        </p:nvSpPr>
        <p:spPr>
          <a:xfrm>
            <a:off x="8138160" y="13258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1"/>
          <p:cNvSpPr/>
          <p:nvPr/>
        </p:nvSpPr>
        <p:spPr>
          <a:xfrm>
            <a:off x="8138160" y="187452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Dashboard &amp; Search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2"/>
          <p:cNvSpPr/>
          <p:nvPr/>
        </p:nvSpPr>
        <p:spPr>
          <a:xfrm>
            <a:off x="8138160" y="2286000"/>
            <a:ext cx="1599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React SPA build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Semantic search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API integration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33"/>
          <p:cNvSpPr/>
          <p:nvPr/>
        </p:nvSpPr>
        <p:spPr>
          <a:xfrm>
            <a:off x="9829800" y="219456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34"/>
          <p:cNvSpPr/>
          <p:nvPr/>
        </p:nvSpPr>
        <p:spPr>
          <a:xfrm>
            <a:off x="9966960" y="1280160"/>
            <a:ext cx="178236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7B1FA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35"/>
          <p:cNvSpPr/>
          <p:nvPr/>
        </p:nvSpPr>
        <p:spPr>
          <a:xfrm>
            <a:off x="9966960" y="1280160"/>
            <a:ext cx="1782360" cy="50220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36"/>
          <p:cNvSpPr/>
          <p:nvPr/>
        </p:nvSpPr>
        <p:spPr>
          <a:xfrm>
            <a:off x="10058400" y="13258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7"/>
          <p:cNvSpPr/>
          <p:nvPr/>
        </p:nvSpPr>
        <p:spPr>
          <a:xfrm>
            <a:off x="10058400" y="187452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B1FA2"/>
                </a:solidFill>
                <a:effectLst/>
                <a:uFillTx/>
                <a:latin typeface="Calibri"/>
              </a:rPr>
              <a:t>Deploy &amp; Evaluate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8"/>
          <p:cNvSpPr/>
          <p:nvPr/>
        </p:nvSpPr>
        <p:spPr>
          <a:xfrm>
            <a:off x="10058400" y="2286000"/>
            <a:ext cx="15994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Docker containerisation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19-check evaluation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Documentation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9"/>
          <p:cNvSpPr/>
          <p:nvPr/>
        </p:nvSpPr>
        <p:spPr>
          <a:xfrm>
            <a:off x="548640" y="420624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Work Plan Timeline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40"/>
          <p:cNvSpPr/>
          <p:nvPr/>
        </p:nvSpPr>
        <p:spPr>
          <a:xfrm>
            <a:off x="548640" y="4617720"/>
            <a:ext cx="10972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Oval 41"/>
          <p:cNvSpPr/>
          <p:nvPr/>
        </p:nvSpPr>
        <p:spPr>
          <a:xfrm>
            <a:off x="1188720" y="4526280"/>
            <a:ext cx="182160" cy="18216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42"/>
          <p:cNvSpPr/>
          <p:nvPr/>
        </p:nvSpPr>
        <p:spPr>
          <a:xfrm>
            <a:off x="548640" y="4754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Week 1–2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43"/>
          <p:cNvSpPr/>
          <p:nvPr/>
        </p:nvSpPr>
        <p:spPr>
          <a:xfrm>
            <a:off x="548640" y="50292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Literature survey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&amp; data collection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Oval 44"/>
          <p:cNvSpPr/>
          <p:nvPr/>
        </p:nvSpPr>
        <p:spPr>
          <a:xfrm>
            <a:off x="3063240" y="4526280"/>
            <a:ext cx="182160" cy="18216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45"/>
          <p:cNvSpPr/>
          <p:nvPr/>
        </p:nvSpPr>
        <p:spPr>
          <a:xfrm>
            <a:off x="2423160" y="4754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Week 3–4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6"/>
          <p:cNvSpPr/>
          <p:nvPr/>
        </p:nvSpPr>
        <p:spPr>
          <a:xfrm>
            <a:off x="2423160" y="50292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Architecture design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&amp; NLP preprocessing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Oval 47"/>
          <p:cNvSpPr/>
          <p:nvPr/>
        </p:nvSpPr>
        <p:spPr>
          <a:xfrm>
            <a:off x="4937760" y="4526280"/>
            <a:ext cx="182160" cy="18216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48"/>
          <p:cNvSpPr/>
          <p:nvPr/>
        </p:nvSpPr>
        <p:spPr>
          <a:xfrm>
            <a:off x="4297680" y="4754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Week 5–7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9"/>
          <p:cNvSpPr/>
          <p:nvPr/>
        </p:nvSpPr>
        <p:spPr>
          <a:xfrm>
            <a:off x="4297680" y="50292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Topic modelling,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clustering, factors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Oval 50"/>
          <p:cNvSpPr/>
          <p:nvPr/>
        </p:nvSpPr>
        <p:spPr>
          <a:xfrm>
            <a:off x="6812280" y="4526280"/>
            <a:ext cx="182160" cy="18216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51"/>
          <p:cNvSpPr/>
          <p:nvPr/>
        </p:nvSpPr>
        <p:spPr>
          <a:xfrm>
            <a:off x="6172200" y="4754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Week 8–9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52"/>
          <p:cNvSpPr/>
          <p:nvPr/>
        </p:nvSpPr>
        <p:spPr>
          <a:xfrm>
            <a:off x="6172200" y="50292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Dashboard, semantic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search, relationships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Oval 53"/>
          <p:cNvSpPr/>
          <p:nvPr/>
        </p:nvSpPr>
        <p:spPr>
          <a:xfrm>
            <a:off x="8686800" y="4526280"/>
            <a:ext cx="182160" cy="18216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54"/>
          <p:cNvSpPr/>
          <p:nvPr/>
        </p:nvSpPr>
        <p:spPr>
          <a:xfrm>
            <a:off x="8046720" y="4754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Week 10–11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55"/>
          <p:cNvSpPr/>
          <p:nvPr/>
        </p:nvSpPr>
        <p:spPr>
          <a:xfrm>
            <a:off x="8046720" y="50292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Docker deployment,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testing &amp; evaluation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Oval 56"/>
          <p:cNvSpPr/>
          <p:nvPr/>
        </p:nvSpPr>
        <p:spPr>
          <a:xfrm>
            <a:off x="10561320" y="4526280"/>
            <a:ext cx="182160" cy="18216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57"/>
          <p:cNvSpPr/>
          <p:nvPr/>
        </p:nvSpPr>
        <p:spPr>
          <a:xfrm>
            <a:off x="9921240" y="475488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Week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58"/>
          <p:cNvSpPr/>
          <p:nvPr/>
        </p:nvSpPr>
        <p:spPr>
          <a:xfrm>
            <a:off x="9921240" y="50292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Documentation</a:t>
            </a:r>
            <a:br>
              <a:rPr sz="1100"/>
            </a:b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&amp; presentation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Picture 59" descr="media_1790019863627.png"/>
          <p:cNvPicPr/>
          <p:nvPr/>
        </p:nvPicPr>
        <p:blipFill>
          <a:blip r:embed="rId1"/>
          <a:stretch/>
        </p:blipFill>
        <p:spPr>
          <a:xfrm>
            <a:off x="228600" y="22932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91440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14-Stage NLP Pipeline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ounded Rectangle 4"/>
          <p:cNvSpPr/>
          <p:nvPr/>
        </p:nvSpPr>
        <p:spPr>
          <a:xfrm>
            <a:off x="27432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Oval 5"/>
          <p:cNvSpPr/>
          <p:nvPr/>
        </p:nvSpPr>
        <p:spPr>
          <a:xfrm>
            <a:off x="777240" y="1371600"/>
            <a:ext cx="547920" cy="54792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6"/>
          <p:cNvSpPr/>
          <p:nvPr/>
        </p:nvSpPr>
        <p:spPr>
          <a:xfrm>
            <a:off x="36576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 Collection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36576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generate_dataset.py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8"/>
          <p:cNvSpPr/>
          <p:nvPr/>
        </p:nvSpPr>
        <p:spPr>
          <a:xfrm>
            <a:off x="196596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Oval 9"/>
          <p:cNvSpPr/>
          <p:nvPr/>
        </p:nvSpPr>
        <p:spPr>
          <a:xfrm>
            <a:off x="2468880" y="1371600"/>
            <a:ext cx="547920" cy="547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205740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Data Preparation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205740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data_loader.py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12"/>
          <p:cNvSpPr/>
          <p:nvPr/>
        </p:nvSpPr>
        <p:spPr>
          <a:xfrm>
            <a:off x="365760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7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Oval 13"/>
          <p:cNvSpPr/>
          <p:nvPr/>
        </p:nvSpPr>
        <p:spPr>
          <a:xfrm>
            <a:off x="4160520" y="1371600"/>
            <a:ext cx="547920" cy="547920"/>
          </a:xfrm>
          <a:prstGeom prst="ellipse">
            <a:avLst/>
          </a:prstGeom>
          <a:solidFill>
            <a:srgbClr val="F5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4"/>
          <p:cNvSpPr/>
          <p:nvPr/>
        </p:nvSpPr>
        <p:spPr>
          <a:xfrm>
            <a:off x="374904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NLP Preprocessing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374904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preprocess.py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16"/>
          <p:cNvSpPr/>
          <p:nvPr/>
        </p:nvSpPr>
        <p:spPr>
          <a:xfrm>
            <a:off x="534924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32F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Oval 17"/>
          <p:cNvSpPr/>
          <p:nvPr/>
        </p:nvSpPr>
        <p:spPr>
          <a:xfrm>
            <a:off x="5852160" y="1371600"/>
            <a:ext cx="547920" cy="547920"/>
          </a:xfrm>
          <a:prstGeom prst="ellipse">
            <a:avLst/>
          </a:prstGeom>
          <a:solidFill>
            <a:srgbClr val="D32F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8"/>
          <p:cNvSpPr/>
          <p:nvPr/>
        </p:nvSpPr>
        <p:spPr>
          <a:xfrm>
            <a:off x="544068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Named Entity Recognition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9"/>
          <p:cNvSpPr/>
          <p:nvPr/>
        </p:nvSpPr>
        <p:spPr>
          <a:xfrm>
            <a:off x="544068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ner.py (spaCy)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20"/>
          <p:cNvSpPr/>
          <p:nvPr/>
        </p:nvSpPr>
        <p:spPr>
          <a:xfrm>
            <a:off x="704088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Oval 21"/>
          <p:cNvSpPr/>
          <p:nvPr/>
        </p:nvSpPr>
        <p:spPr>
          <a:xfrm>
            <a:off x="7543800" y="1371600"/>
            <a:ext cx="547920" cy="547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2"/>
          <p:cNvSpPr/>
          <p:nvPr/>
        </p:nvSpPr>
        <p:spPr>
          <a:xfrm>
            <a:off x="713232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Text Embeddings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3"/>
          <p:cNvSpPr/>
          <p:nvPr/>
        </p:nvSpPr>
        <p:spPr>
          <a:xfrm>
            <a:off x="713232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embeddings.py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24"/>
          <p:cNvSpPr/>
          <p:nvPr/>
        </p:nvSpPr>
        <p:spPr>
          <a:xfrm>
            <a:off x="873252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B1FA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Oval 25"/>
          <p:cNvSpPr/>
          <p:nvPr/>
        </p:nvSpPr>
        <p:spPr>
          <a:xfrm>
            <a:off x="9235440" y="1371600"/>
            <a:ext cx="547920" cy="547920"/>
          </a:xfrm>
          <a:prstGeom prst="ellipse">
            <a:avLst/>
          </a:prstGeom>
          <a:solidFill>
            <a:srgbClr val="7B1FA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6"/>
          <p:cNvSpPr/>
          <p:nvPr/>
        </p:nvSpPr>
        <p:spPr>
          <a:xfrm>
            <a:off x="882396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Topic Modelling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7"/>
          <p:cNvSpPr/>
          <p:nvPr/>
        </p:nvSpPr>
        <p:spPr>
          <a:xfrm>
            <a:off x="882396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topics.py (BERTopic+LDA)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28"/>
          <p:cNvSpPr/>
          <p:nvPr/>
        </p:nvSpPr>
        <p:spPr>
          <a:xfrm>
            <a:off x="10424160" y="11887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7A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Oval 29"/>
          <p:cNvSpPr/>
          <p:nvPr/>
        </p:nvSpPr>
        <p:spPr>
          <a:xfrm>
            <a:off x="10927080" y="1371600"/>
            <a:ext cx="547920" cy="547920"/>
          </a:xfrm>
          <a:prstGeom prst="ellipse">
            <a:avLst/>
          </a:prstGeom>
          <a:solidFill>
            <a:srgbClr val="0097A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30"/>
          <p:cNvSpPr/>
          <p:nvPr/>
        </p:nvSpPr>
        <p:spPr>
          <a:xfrm>
            <a:off x="10515600" y="21031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Clustering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31"/>
          <p:cNvSpPr/>
          <p:nvPr/>
        </p:nvSpPr>
        <p:spPr>
          <a:xfrm>
            <a:off x="10515600" y="28346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clustering.py (KMeans)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32"/>
          <p:cNvSpPr/>
          <p:nvPr/>
        </p:nvSpPr>
        <p:spPr>
          <a:xfrm>
            <a:off x="27432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Oval 33"/>
          <p:cNvSpPr/>
          <p:nvPr/>
        </p:nvSpPr>
        <p:spPr>
          <a:xfrm>
            <a:off x="777240" y="4114800"/>
            <a:ext cx="547920" cy="547920"/>
          </a:xfrm>
          <a:prstGeom prst="ellipse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4"/>
          <p:cNvSpPr/>
          <p:nvPr/>
        </p:nvSpPr>
        <p:spPr>
          <a:xfrm>
            <a:off x="36576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Factor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35"/>
          <p:cNvSpPr/>
          <p:nvPr/>
        </p:nvSpPr>
        <p:spPr>
          <a:xfrm>
            <a:off x="36576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factors.py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36"/>
          <p:cNvSpPr/>
          <p:nvPr/>
        </p:nvSpPr>
        <p:spPr>
          <a:xfrm>
            <a:off x="196596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Oval 37"/>
          <p:cNvSpPr/>
          <p:nvPr/>
        </p:nvSpPr>
        <p:spPr>
          <a:xfrm>
            <a:off x="2468880" y="4114800"/>
            <a:ext cx="547920" cy="547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38"/>
          <p:cNvSpPr/>
          <p:nvPr/>
        </p:nvSpPr>
        <p:spPr>
          <a:xfrm>
            <a:off x="205740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Co-occurrence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9"/>
          <p:cNvSpPr/>
          <p:nvPr/>
        </p:nvSpPr>
        <p:spPr>
          <a:xfrm>
            <a:off x="205740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relationships.py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40"/>
          <p:cNvSpPr/>
          <p:nvPr/>
        </p:nvSpPr>
        <p:spPr>
          <a:xfrm>
            <a:off x="365760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7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Oval 41"/>
          <p:cNvSpPr/>
          <p:nvPr/>
        </p:nvSpPr>
        <p:spPr>
          <a:xfrm>
            <a:off x="4114800" y="4114800"/>
            <a:ext cx="685440" cy="547920"/>
          </a:xfrm>
          <a:prstGeom prst="ellipse">
            <a:avLst/>
          </a:prstGeom>
          <a:solidFill>
            <a:srgbClr val="F5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2"/>
          <p:cNvSpPr/>
          <p:nvPr/>
        </p:nvSpPr>
        <p:spPr>
          <a:xfrm>
            <a:off x="374904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Trend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43"/>
          <p:cNvSpPr/>
          <p:nvPr/>
        </p:nvSpPr>
        <p:spPr>
          <a:xfrm>
            <a:off x="374904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trends.py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44"/>
          <p:cNvSpPr/>
          <p:nvPr/>
        </p:nvSpPr>
        <p:spPr>
          <a:xfrm>
            <a:off x="534924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32F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Oval 45"/>
          <p:cNvSpPr/>
          <p:nvPr/>
        </p:nvSpPr>
        <p:spPr>
          <a:xfrm>
            <a:off x="5715360" y="4114800"/>
            <a:ext cx="685080" cy="547920"/>
          </a:xfrm>
          <a:prstGeom prst="ellipse">
            <a:avLst/>
          </a:prstGeom>
          <a:solidFill>
            <a:srgbClr val="D32F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46"/>
          <p:cNvSpPr/>
          <p:nvPr/>
        </p:nvSpPr>
        <p:spPr>
          <a:xfrm>
            <a:off x="544068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Dashboard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47"/>
          <p:cNvSpPr/>
          <p:nvPr/>
        </p:nvSpPr>
        <p:spPr>
          <a:xfrm>
            <a:off x="544068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frontend/ (React+Vite)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48"/>
          <p:cNvSpPr/>
          <p:nvPr/>
        </p:nvSpPr>
        <p:spPr>
          <a:xfrm>
            <a:off x="704088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Oval 49"/>
          <p:cNvSpPr/>
          <p:nvPr/>
        </p:nvSpPr>
        <p:spPr>
          <a:xfrm>
            <a:off x="7452720" y="4114800"/>
            <a:ext cx="776520" cy="547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50"/>
          <p:cNvSpPr/>
          <p:nvPr/>
        </p:nvSpPr>
        <p:spPr>
          <a:xfrm>
            <a:off x="713232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Semantic Search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51"/>
          <p:cNvSpPr/>
          <p:nvPr/>
        </p:nvSpPr>
        <p:spPr>
          <a:xfrm>
            <a:off x="713232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search.py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52"/>
          <p:cNvSpPr/>
          <p:nvPr/>
        </p:nvSpPr>
        <p:spPr>
          <a:xfrm>
            <a:off x="873252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B1FA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Oval 53"/>
          <p:cNvSpPr/>
          <p:nvPr/>
        </p:nvSpPr>
        <p:spPr>
          <a:xfrm>
            <a:off x="9144000" y="4114800"/>
            <a:ext cx="639360" cy="547920"/>
          </a:xfrm>
          <a:prstGeom prst="ellipse">
            <a:avLst/>
          </a:prstGeom>
          <a:solidFill>
            <a:srgbClr val="7B1FA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54"/>
          <p:cNvSpPr/>
          <p:nvPr/>
        </p:nvSpPr>
        <p:spPr>
          <a:xfrm>
            <a:off x="882396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Deployment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55"/>
          <p:cNvSpPr/>
          <p:nvPr/>
        </p:nvSpPr>
        <p:spPr>
          <a:xfrm>
            <a:off x="882396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Docker / compose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56"/>
          <p:cNvSpPr/>
          <p:nvPr/>
        </p:nvSpPr>
        <p:spPr>
          <a:xfrm>
            <a:off x="10424160" y="3931920"/>
            <a:ext cx="15537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7A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Oval 57"/>
          <p:cNvSpPr/>
          <p:nvPr/>
        </p:nvSpPr>
        <p:spPr>
          <a:xfrm>
            <a:off x="10927440" y="4114800"/>
            <a:ext cx="730800" cy="547920"/>
          </a:xfrm>
          <a:prstGeom prst="ellipse">
            <a:avLst/>
          </a:prstGeom>
          <a:solidFill>
            <a:srgbClr val="0097A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58"/>
          <p:cNvSpPr/>
          <p:nvPr/>
        </p:nvSpPr>
        <p:spPr>
          <a:xfrm>
            <a:off x="10515600" y="4846320"/>
            <a:ext cx="137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Testing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59"/>
          <p:cNvSpPr/>
          <p:nvPr/>
        </p:nvSpPr>
        <p:spPr>
          <a:xfrm>
            <a:off x="10515600" y="5577840"/>
            <a:ext cx="1370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evaluate.py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Picture 60" descr="media_1790019863627.png"/>
          <p:cNvPicPr/>
          <p:nvPr/>
        </p:nvPicPr>
        <p:blipFill>
          <a:blip r:embed="rId1"/>
          <a:stretch/>
        </p:blipFill>
        <p:spPr>
          <a:xfrm>
            <a:off x="228600" y="22932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91440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Tech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3"/>
          <p:cNvSpPr/>
          <p:nvPr/>
        </p:nvSpPr>
        <p:spPr>
          <a:xfrm>
            <a:off x="731520" y="914400"/>
            <a:ext cx="13708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4"/>
          <p:cNvSpPr/>
          <p:nvPr/>
        </p:nvSpPr>
        <p:spPr>
          <a:xfrm>
            <a:off x="457200" y="1280160"/>
            <a:ext cx="3565440" cy="5022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594360" y="132588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6"/>
          <p:cNvSpPr/>
          <p:nvPr/>
        </p:nvSpPr>
        <p:spPr>
          <a:xfrm>
            <a:off x="457200" y="19202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594360" y="19659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8"/>
          <p:cNvSpPr/>
          <p:nvPr/>
        </p:nvSpPr>
        <p:spPr>
          <a:xfrm>
            <a:off x="1828800" y="19659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Python 3.x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9"/>
          <p:cNvSpPr/>
          <p:nvPr/>
        </p:nvSpPr>
        <p:spPr>
          <a:xfrm>
            <a:off x="457200" y="26060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0"/>
          <p:cNvSpPr/>
          <p:nvPr/>
        </p:nvSpPr>
        <p:spPr>
          <a:xfrm>
            <a:off x="594360" y="26517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Web Framework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1"/>
          <p:cNvSpPr/>
          <p:nvPr/>
        </p:nvSpPr>
        <p:spPr>
          <a:xfrm>
            <a:off x="1828800" y="26517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FastAPI + uvicorn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ounded Rectangle 12"/>
          <p:cNvSpPr/>
          <p:nvPr/>
        </p:nvSpPr>
        <p:spPr>
          <a:xfrm>
            <a:off x="457200" y="32918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3"/>
          <p:cNvSpPr/>
          <p:nvPr/>
        </p:nvSpPr>
        <p:spPr>
          <a:xfrm>
            <a:off x="594360" y="33375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Embeddings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4"/>
          <p:cNvSpPr/>
          <p:nvPr/>
        </p:nvSpPr>
        <p:spPr>
          <a:xfrm>
            <a:off x="1828800" y="33375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sentence-transformers (all-MiniLM-L6-v2, 384-d)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15"/>
          <p:cNvSpPr/>
          <p:nvPr/>
        </p:nvSpPr>
        <p:spPr>
          <a:xfrm>
            <a:off x="457200" y="39776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594360" y="40233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Topic Modelling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1828800" y="40233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BERTopic (UMAP + HDBSCAN + c-TF-IDF)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18"/>
          <p:cNvSpPr/>
          <p:nvPr/>
        </p:nvSpPr>
        <p:spPr>
          <a:xfrm>
            <a:off x="457200" y="46634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19"/>
          <p:cNvSpPr/>
          <p:nvPr/>
        </p:nvSpPr>
        <p:spPr>
          <a:xfrm>
            <a:off x="594360" y="47091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NER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1828800" y="47091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spaCy (en_core_web_sm)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1"/>
          <p:cNvSpPr/>
          <p:nvPr/>
        </p:nvSpPr>
        <p:spPr>
          <a:xfrm>
            <a:off x="457200" y="53492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594360" y="53949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ML / Math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3"/>
          <p:cNvSpPr/>
          <p:nvPr/>
        </p:nvSpPr>
        <p:spPr>
          <a:xfrm>
            <a:off x="1828800" y="53949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scikit-learn (KMeans, LDA, TF-IDF+SVD), NumPy, pandas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24"/>
          <p:cNvSpPr/>
          <p:nvPr/>
        </p:nvSpPr>
        <p:spPr>
          <a:xfrm>
            <a:off x="4297680" y="1280160"/>
            <a:ext cx="3565440" cy="5022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25"/>
          <p:cNvSpPr/>
          <p:nvPr/>
        </p:nvSpPr>
        <p:spPr>
          <a:xfrm>
            <a:off x="4434840" y="132588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26"/>
          <p:cNvSpPr/>
          <p:nvPr/>
        </p:nvSpPr>
        <p:spPr>
          <a:xfrm>
            <a:off x="4297680" y="19202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7"/>
          <p:cNvSpPr/>
          <p:nvPr/>
        </p:nvSpPr>
        <p:spPr>
          <a:xfrm>
            <a:off x="4434840" y="19659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Framework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8"/>
          <p:cNvSpPr/>
          <p:nvPr/>
        </p:nvSpPr>
        <p:spPr>
          <a:xfrm>
            <a:off x="5669280" y="19659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React 18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29"/>
          <p:cNvSpPr/>
          <p:nvPr/>
        </p:nvSpPr>
        <p:spPr>
          <a:xfrm>
            <a:off x="4297680" y="26060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30"/>
          <p:cNvSpPr/>
          <p:nvPr/>
        </p:nvSpPr>
        <p:spPr>
          <a:xfrm>
            <a:off x="4434840" y="26517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Build Tool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31"/>
          <p:cNvSpPr/>
          <p:nvPr/>
        </p:nvSpPr>
        <p:spPr>
          <a:xfrm>
            <a:off x="5669280" y="26517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32"/>
          <p:cNvSpPr/>
          <p:nvPr/>
        </p:nvSpPr>
        <p:spPr>
          <a:xfrm>
            <a:off x="4297680" y="32918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3"/>
          <p:cNvSpPr/>
          <p:nvPr/>
        </p:nvSpPr>
        <p:spPr>
          <a:xfrm>
            <a:off x="4434840" y="33375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Routing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34"/>
          <p:cNvSpPr/>
          <p:nvPr/>
        </p:nvSpPr>
        <p:spPr>
          <a:xfrm>
            <a:off x="5669280" y="33375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Hash routing + React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35"/>
          <p:cNvSpPr/>
          <p:nvPr/>
        </p:nvSpPr>
        <p:spPr>
          <a:xfrm>
            <a:off x="4297680" y="39776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36"/>
          <p:cNvSpPr/>
          <p:nvPr/>
        </p:nvSpPr>
        <p:spPr>
          <a:xfrm>
            <a:off x="4434840" y="40233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Charts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7"/>
          <p:cNvSpPr/>
          <p:nvPr/>
        </p:nvSpPr>
        <p:spPr>
          <a:xfrm>
            <a:off x="5669280" y="40233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Custom SVG (hand-built, colorblind-safe, light/dark)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38"/>
          <p:cNvSpPr/>
          <p:nvPr/>
        </p:nvSpPr>
        <p:spPr>
          <a:xfrm>
            <a:off x="4297680" y="46634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39"/>
          <p:cNvSpPr/>
          <p:nvPr/>
        </p:nvSpPr>
        <p:spPr>
          <a:xfrm>
            <a:off x="4434840" y="47091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Styling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40"/>
          <p:cNvSpPr/>
          <p:nvPr/>
        </p:nvSpPr>
        <p:spPr>
          <a:xfrm>
            <a:off x="5669280" y="47091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CSS design-system tokens (theme.css)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41"/>
          <p:cNvSpPr/>
          <p:nvPr/>
        </p:nvSpPr>
        <p:spPr>
          <a:xfrm>
            <a:off x="8138160" y="1280160"/>
            <a:ext cx="3565440" cy="502200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42"/>
          <p:cNvSpPr/>
          <p:nvPr/>
        </p:nvSpPr>
        <p:spPr>
          <a:xfrm>
            <a:off x="8275320" y="132588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DevOps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43"/>
          <p:cNvSpPr/>
          <p:nvPr/>
        </p:nvSpPr>
        <p:spPr>
          <a:xfrm>
            <a:off x="8138160" y="19202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44"/>
          <p:cNvSpPr/>
          <p:nvPr/>
        </p:nvSpPr>
        <p:spPr>
          <a:xfrm>
            <a:off x="8275320" y="19659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7C00"/>
                </a:solidFill>
                <a:effectLst/>
                <a:uFillTx/>
                <a:latin typeface="Calibri"/>
              </a:rPr>
              <a:t>Containerisation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45"/>
          <p:cNvSpPr/>
          <p:nvPr/>
        </p:nvSpPr>
        <p:spPr>
          <a:xfrm>
            <a:off x="9509760" y="19659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Docker + docker-compose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46"/>
          <p:cNvSpPr/>
          <p:nvPr/>
        </p:nvSpPr>
        <p:spPr>
          <a:xfrm>
            <a:off x="8138160" y="26060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47"/>
          <p:cNvSpPr/>
          <p:nvPr/>
        </p:nvSpPr>
        <p:spPr>
          <a:xfrm>
            <a:off x="8275320" y="26517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7C00"/>
                </a:solidFill>
                <a:effectLst/>
                <a:uFillTx/>
                <a:latin typeface="Calibri"/>
              </a:rPr>
              <a:t>Build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48"/>
          <p:cNvSpPr/>
          <p:nvPr/>
        </p:nvSpPr>
        <p:spPr>
          <a:xfrm>
            <a:off x="9509760" y="26517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Multi-stage (Node → Python)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49"/>
          <p:cNvSpPr/>
          <p:nvPr/>
        </p:nvSpPr>
        <p:spPr>
          <a:xfrm>
            <a:off x="8138160" y="3291840"/>
            <a:ext cx="3565440" cy="593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50"/>
          <p:cNvSpPr/>
          <p:nvPr/>
        </p:nvSpPr>
        <p:spPr>
          <a:xfrm>
            <a:off x="8275320" y="3337560"/>
            <a:ext cx="1370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7C00"/>
                </a:solidFill>
                <a:effectLst/>
                <a:uFillTx/>
                <a:latin typeface="Calibri"/>
              </a:rPr>
              <a:t>Configuration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51"/>
          <p:cNvSpPr/>
          <p:nvPr/>
        </p:nvSpPr>
        <p:spPr>
          <a:xfrm>
            <a:off x="9509760" y="333756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Environment variables (AV_*)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Picture 52" descr="media_1790019863627.png"/>
          <p:cNvPicPr/>
          <p:nvPr/>
        </p:nvPicPr>
        <p:blipFill>
          <a:blip r:embed="rId1"/>
          <a:stretch/>
        </p:blipFill>
        <p:spPr>
          <a:xfrm>
            <a:off x="13140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91512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Key Features &amp; Dashboard Views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Rounded Rectangle 4"/>
          <p:cNvSpPr/>
          <p:nvPr/>
        </p:nvSpPr>
        <p:spPr>
          <a:xfrm>
            <a:off x="548640" y="12801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Rectangle 5"/>
          <p:cNvSpPr/>
          <p:nvPr/>
        </p:nvSpPr>
        <p:spPr>
          <a:xfrm>
            <a:off x="548640" y="1280160"/>
            <a:ext cx="3565440" cy="45648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6"/>
          <p:cNvSpPr/>
          <p:nvPr/>
        </p:nvSpPr>
        <p:spPr>
          <a:xfrm>
            <a:off x="685800" y="13258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685800" y="18288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Corpus stats, top factors,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trend signals, topic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model comparison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8"/>
          <p:cNvSpPr/>
          <p:nvPr/>
        </p:nvSpPr>
        <p:spPr>
          <a:xfrm>
            <a:off x="4389120" y="12801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 9"/>
          <p:cNvSpPr/>
          <p:nvPr/>
        </p:nvSpPr>
        <p:spPr>
          <a:xfrm>
            <a:off x="4389120" y="1280160"/>
            <a:ext cx="3565440" cy="45648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0"/>
          <p:cNvSpPr/>
          <p:nvPr/>
        </p:nvSpPr>
        <p:spPr>
          <a:xfrm>
            <a:off x="4526280" y="13258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4526280" y="18288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BERTopic primary topics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+ LDA baseline +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side-by-side comparison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2"/>
          <p:cNvSpPr/>
          <p:nvPr/>
        </p:nvSpPr>
        <p:spPr>
          <a:xfrm>
            <a:off x="8229600" y="12801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57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Rectangle 13"/>
          <p:cNvSpPr/>
          <p:nvPr/>
        </p:nvSpPr>
        <p:spPr>
          <a:xfrm>
            <a:off x="8229600" y="1280160"/>
            <a:ext cx="3565440" cy="456480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4"/>
          <p:cNvSpPr/>
          <p:nvPr/>
        </p:nvSpPr>
        <p:spPr>
          <a:xfrm>
            <a:off x="8366760" y="13258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Clusters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5"/>
          <p:cNvSpPr/>
          <p:nvPr/>
        </p:nvSpPr>
        <p:spPr>
          <a:xfrm>
            <a:off x="8366760" y="18288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KMeans cluster summaries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+ 2-D semantic scatter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map visualisation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16"/>
          <p:cNvSpPr/>
          <p:nvPr/>
        </p:nvSpPr>
        <p:spPr>
          <a:xfrm>
            <a:off x="548640" y="31089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D32F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17"/>
          <p:cNvSpPr/>
          <p:nvPr/>
        </p:nvSpPr>
        <p:spPr>
          <a:xfrm>
            <a:off x="548640" y="3108960"/>
            <a:ext cx="3565440" cy="456480"/>
          </a:xfrm>
          <a:prstGeom prst="rect">
            <a:avLst/>
          </a:prstGeom>
          <a:solidFill>
            <a:srgbClr val="D32F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8"/>
          <p:cNvSpPr/>
          <p:nvPr/>
        </p:nvSpPr>
        <p:spPr>
          <a:xfrm>
            <a:off x="685800" y="31546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Factors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9"/>
          <p:cNvSpPr/>
          <p:nvPr/>
        </p:nvSpPr>
        <p:spPr>
          <a:xfrm>
            <a:off x="685800" y="36576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Ranked contributing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factors + 7-theme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safety taxonomy rollup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20"/>
          <p:cNvSpPr/>
          <p:nvPr/>
        </p:nvSpPr>
        <p:spPr>
          <a:xfrm>
            <a:off x="4389120" y="31089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ectangle 21"/>
          <p:cNvSpPr/>
          <p:nvPr/>
        </p:nvSpPr>
        <p:spPr>
          <a:xfrm>
            <a:off x="4389120" y="3108960"/>
            <a:ext cx="3565440" cy="4564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2"/>
          <p:cNvSpPr/>
          <p:nvPr/>
        </p:nvSpPr>
        <p:spPr>
          <a:xfrm>
            <a:off x="4526280" y="31546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Relationships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3"/>
          <p:cNvSpPr/>
          <p:nvPr/>
        </p:nvSpPr>
        <p:spPr>
          <a:xfrm>
            <a:off x="4526280" y="36576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Factor co-occurrence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network (count / lift /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Jaccard metrics)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24"/>
          <p:cNvSpPr/>
          <p:nvPr/>
        </p:nvSpPr>
        <p:spPr>
          <a:xfrm>
            <a:off x="8229600" y="31089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7B1FA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 25"/>
          <p:cNvSpPr/>
          <p:nvPr/>
        </p:nvSpPr>
        <p:spPr>
          <a:xfrm>
            <a:off x="8229600" y="3108960"/>
            <a:ext cx="3565440" cy="45648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26"/>
          <p:cNvSpPr/>
          <p:nvPr/>
        </p:nvSpPr>
        <p:spPr>
          <a:xfrm>
            <a:off x="8366760" y="31546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Trends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7"/>
          <p:cNvSpPr/>
          <p:nvPr/>
        </p:nvSpPr>
        <p:spPr>
          <a:xfrm>
            <a:off x="8366760" y="36576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Per-theme yearly series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with rising / falling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signal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28"/>
          <p:cNvSpPr/>
          <p:nvPr/>
        </p:nvSpPr>
        <p:spPr>
          <a:xfrm>
            <a:off x="548640" y="49377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7A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 29"/>
          <p:cNvSpPr/>
          <p:nvPr/>
        </p:nvSpPr>
        <p:spPr>
          <a:xfrm>
            <a:off x="548640" y="4937760"/>
            <a:ext cx="3565440" cy="456480"/>
          </a:xfrm>
          <a:prstGeom prst="rect">
            <a:avLst/>
          </a:prstGeom>
          <a:solidFill>
            <a:srgbClr val="0097A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30"/>
          <p:cNvSpPr/>
          <p:nvPr/>
        </p:nvSpPr>
        <p:spPr>
          <a:xfrm>
            <a:off x="685800" y="49834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Entities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31"/>
          <p:cNvSpPr/>
          <p:nvPr/>
        </p:nvSpPr>
        <p:spPr>
          <a:xfrm>
            <a:off x="685800" y="54864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Aggregated named entities: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aircraft, organisations,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airports, locations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32"/>
          <p:cNvSpPr/>
          <p:nvPr/>
        </p:nvSpPr>
        <p:spPr>
          <a:xfrm>
            <a:off x="4389120" y="49377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D40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Rectangle 33"/>
          <p:cNvSpPr/>
          <p:nvPr/>
        </p:nvSpPr>
        <p:spPr>
          <a:xfrm>
            <a:off x="4389120" y="4937760"/>
            <a:ext cx="3565440" cy="456480"/>
          </a:xfrm>
          <a:prstGeom prst="rect">
            <a:avLst/>
          </a:prstGeom>
          <a:solidFill>
            <a:srgbClr val="5D40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34"/>
          <p:cNvSpPr/>
          <p:nvPr/>
        </p:nvSpPr>
        <p:spPr>
          <a:xfrm>
            <a:off x="4526280" y="49834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Search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35"/>
          <p:cNvSpPr/>
          <p:nvPr/>
        </p:nvSpPr>
        <p:spPr>
          <a:xfrm>
            <a:off x="4526280" y="54864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Semantic search matching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concepts not keywords —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cosine over embeddings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36"/>
          <p:cNvSpPr/>
          <p:nvPr/>
        </p:nvSpPr>
        <p:spPr>
          <a:xfrm>
            <a:off x="8229600" y="4937760"/>
            <a:ext cx="356544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2185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ectangle 37"/>
          <p:cNvSpPr/>
          <p:nvPr/>
        </p:nvSpPr>
        <p:spPr>
          <a:xfrm>
            <a:off x="8229600" y="4937760"/>
            <a:ext cx="3565440" cy="456480"/>
          </a:xfrm>
          <a:prstGeom prst="rect">
            <a:avLst/>
          </a:prstGeom>
          <a:solidFill>
            <a:srgbClr val="C2185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38"/>
          <p:cNvSpPr/>
          <p:nvPr/>
        </p:nvSpPr>
        <p:spPr>
          <a:xfrm>
            <a:off x="8366760" y="49834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39"/>
          <p:cNvSpPr/>
          <p:nvPr/>
        </p:nvSpPr>
        <p:spPr>
          <a:xfrm>
            <a:off x="8366760" y="5486400"/>
            <a:ext cx="3291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Filter / paginate reports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by topic, cluster, theme,</a:t>
            </a:r>
            <a:br>
              <a:rPr sz="1300"/>
            </a:b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severity, year + detail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Picture 40" descr="media_1790019863627.png"/>
          <p:cNvPicPr/>
          <p:nvPr/>
        </p:nvPicPr>
        <p:blipFill>
          <a:blip r:embed="rId1"/>
          <a:stretch/>
        </p:blipFill>
        <p:spPr>
          <a:xfrm>
            <a:off x="13140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2"/>
          <p:cNvSpPr/>
          <p:nvPr/>
        </p:nvSpPr>
        <p:spPr>
          <a:xfrm>
            <a:off x="91512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Progress Summary — Deliverables Completed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ounded Rectangle 4"/>
          <p:cNvSpPr/>
          <p:nvPr/>
        </p:nvSpPr>
        <p:spPr>
          <a:xfrm>
            <a:off x="548640" y="141732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ounded Rectangle 5"/>
          <p:cNvSpPr/>
          <p:nvPr/>
        </p:nvSpPr>
        <p:spPr>
          <a:xfrm>
            <a:off x="1280160" y="1280160"/>
            <a:ext cx="1033200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6"/>
          <p:cNvSpPr/>
          <p:nvPr/>
        </p:nvSpPr>
        <p:spPr>
          <a:xfrm>
            <a:off x="1463040" y="137160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Literature Survey Completed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7"/>
          <p:cNvSpPr/>
          <p:nvPr/>
        </p:nvSpPr>
        <p:spPr>
          <a:xfrm>
            <a:off x="1463040" y="1783080"/>
            <a:ext cx="9874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Comprehensive review of topic modelling (LDA, BERTopic), text embeddings (sentence-transformers), clustering (KMeans), aviation text mining, unsupervised factor discovery, and semantic search approaches.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8"/>
          <p:cNvSpPr/>
          <p:nvPr/>
        </p:nvSpPr>
        <p:spPr>
          <a:xfrm>
            <a:off x="548640" y="274320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9"/>
          <p:cNvSpPr/>
          <p:nvPr/>
        </p:nvSpPr>
        <p:spPr>
          <a:xfrm>
            <a:off x="1280160" y="2606040"/>
            <a:ext cx="1033200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10"/>
          <p:cNvSpPr/>
          <p:nvPr/>
        </p:nvSpPr>
        <p:spPr>
          <a:xfrm>
            <a:off x="1463040" y="269748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System Architecture / Design Finalized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1"/>
          <p:cNvSpPr/>
          <p:nvPr/>
        </p:nvSpPr>
        <p:spPr>
          <a:xfrm>
            <a:off x="1463040" y="3108960"/>
            <a:ext cx="9874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Single-process FastAPI architecture serving React SPA and REST API. 14-stage pipeline with precomputed analysis cached in data_store/. Graceful degradation from full transformer stack to scikit-learn fallback.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ounded Rectangle 12"/>
          <p:cNvSpPr/>
          <p:nvPr/>
        </p:nvSpPr>
        <p:spPr>
          <a:xfrm>
            <a:off x="548640" y="406908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F5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13"/>
          <p:cNvSpPr/>
          <p:nvPr/>
        </p:nvSpPr>
        <p:spPr>
          <a:xfrm>
            <a:off x="1280160" y="3931920"/>
            <a:ext cx="1033200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7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14"/>
          <p:cNvSpPr/>
          <p:nvPr/>
        </p:nvSpPr>
        <p:spPr>
          <a:xfrm>
            <a:off x="1463040" y="402336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7C00"/>
                </a:solidFill>
                <a:effectLst/>
                <a:uFillTx/>
                <a:latin typeface="Calibri"/>
              </a:rPr>
              <a:t>Dataset and Tools Identified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5"/>
          <p:cNvSpPr/>
          <p:nvPr/>
        </p:nvSpPr>
        <p:spPr>
          <a:xfrm>
            <a:off x="1463040" y="4434840"/>
            <a:ext cx="9874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~480 synthetic aviation incident narratives (deterministic, reproducible). Python + FastAPI backend, React + Vite frontend, BERTopic + spaCy + scikit-learn for NLP, Docker for deployment.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16"/>
          <p:cNvSpPr/>
          <p:nvPr/>
        </p:nvSpPr>
        <p:spPr>
          <a:xfrm>
            <a:off x="548640" y="5394960"/>
            <a:ext cx="547920" cy="45648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ounded Rectangle 17"/>
          <p:cNvSpPr/>
          <p:nvPr/>
        </p:nvSpPr>
        <p:spPr>
          <a:xfrm>
            <a:off x="1280160" y="5257800"/>
            <a:ext cx="1033200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18"/>
          <p:cNvSpPr/>
          <p:nvPr/>
        </p:nvSpPr>
        <p:spPr>
          <a:xfrm>
            <a:off x="1463040" y="534924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Methodology and Work Plan Prepared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9"/>
          <p:cNvSpPr/>
          <p:nvPr/>
        </p:nvSpPr>
        <p:spPr>
          <a:xfrm>
            <a:off x="1463040" y="5760720"/>
            <a:ext cx="9874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6-phase methodology: Data Layer → Feature Extraction → Unsupervised Analysis → Relationship Mining → Dashboard &amp; Search → Deploy &amp; Evaluate. 12-week timeline with clear milestones.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0" name="Picture 20" descr="media_1790019863627.png"/>
          <p:cNvPicPr/>
          <p:nvPr/>
        </p:nvPicPr>
        <p:blipFill>
          <a:blip r:embed="rId1"/>
          <a:stretch/>
        </p:blipFill>
        <p:spPr>
          <a:xfrm>
            <a:off x="17712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2"/>
          <p:cNvSpPr/>
          <p:nvPr/>
        </p:nvSpPr>
        <p:spPr>
          <a:xfrm>
            <a:off x="731520" y="3657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Conclusion &amp; Future 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3"/>
          <p:cNvSpPr/>
          <p:nvPr/>
        </p:nvSpPr>
        <p:spPr>
          <a:xfrm>
            <a:off x="731520" y="914400"/>
            <a:ext cx="1828080" cy="36000"/>
          </a:xfrm>
          <a:prstGeom prst="rect">
            <a:avLst/>
          </a:prstGeom>
          <a:solidFill>
            <a:srgbClr val="006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ounded Rectangle 4"/>
          <p:cNvSpPr/>
          <p:nvPr/>
        </p:nvSpPr>
        <p:spPr>
          <a:xfrm>
            <a:off x="548640" y="1280160"/>
            <a:ext cx="5485680" cy="31996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905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5"/>
          <p:cNvSpPr/>
          <p:nvPr/>
        </p:nvSpPr>
        <p:spPr>
          <a:xfrm>
            <a:off x="822960" y="137160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Conclusion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6"/>
          <p:cNvSpPr/>
          <p:nvPr/>
        </p:nvSpPr>
        <p:spPr>
          <a:xfrm>
            <a:off x="822960" y="1828800"/>
            <a:ext cx="49370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End-to-end unsupervised NLP pipeline for aviation safety analytics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No labelled data required — fully automated pattern discovery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BERTopic + KMeans + semantic search provide multi-faceted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Interactive React dashboard with 9 specialised views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19/19 evaluation checks passed; 5/5 search queries relevant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6EB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Single-container Docker deployment — production ready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7"/>
          <p:cNvSpPr/>
          <p:nvPr/>
        </p:nvSpPr>
        <p:spPr>
          <a:xfrm>
            <a:off x="6400800" y="1280160"/>
            <a:ext cx="5302800" cy="3199680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9050">
            <a:solidFill>
              <a:srgbClr val="0096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8"/>
          <p:cNvSpPr/>
          <p:nvPr/>
        </p:nvSpPr>
        <p:spPr>
          <a:xfrm>
            <a:off x="6675120" y="137160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9688"/>
                </a:solidFill>
                <a:effectLst/>
                <a:uFillTx/>
                <a:latin typeface="Calibri"/>
              </a:rPr>
              <a:t>Future Work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9"/>
          <p:cNvSpPr/>
          <p:nvPr/>
        </p:nvSpPr>
        <p:spPr>
          <a:xfrm>
            <a:off x="6675120" y="1828800"/>
            <a:ext cx="47541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Integration with real NTSB / NASA ASRS datasets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Fine-tuned domain-specific embeddings for aviation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Temporal topic evolution tracking (dynamic topics)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Causal factor chain analysis beyond co-occurrence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Multi-language report support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Aft>
                <a:spcPts val="1800"/>
              </a:spcAft>
              <a:buClr>
                <a:srgbClr val="009688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Real-time ingestion pipeline for streaming reports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0"/>
          <p:cNvSpPr/>
          <p:nvPr/>
        </p:nvSpPr>
        <p:spPr>
          <a:xfrm>
            <a:off x="548640" y="475488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Key Project Metrics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11"/>
          <p:cNvSpPr/>
          <p:nvPr/>
        </p:nvSpPr>
        <p:spPr>
          <a:xfrm>
            <a:off x="548640" y="5212080"/>
            <a:ext cx="173664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12"/>
          <p:cNvSpPr/>
          <p:nvPr/>
        </p:nvSpPr>
        <p:spPr>
          <a:xfrm>
            <a:off x="640080" y="530352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14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3"/>
          <p:cNvSpPr/>
          <p:nvPr/>
        </p:nvSpPr>
        <p:spPr>
          <a:xfrm>
            <a:off x="640080" y="580644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Pipeline</a:t>
            </a:r>
            <a:br>
              <a:rPr sz="1200"/>
            </a:b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Stages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ounded Rectangle 14"/>
          <p:cNvSpPr/>
          <p:nvPr/>
        </p:nvSpPr>
        <p:spPr>
          <a:xfrm>
            <a:off x="2468880" y="5212080"/>
            <a:ext cx="173664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15"/>
          <p:cNvSpPr/>
          <p:nvPr/>
        </p:nvSpPr>
        <p:spPr>
          <a:xfrm>
            <a:off x="2560320" y="530352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~480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6"/>
          <p:cNvSpPr/>
          <p:nvPr/>
        </p:nvSpPr>
        <p:spPr>
          <a:xfrm>
            <a:off x="2560320" y="580644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Incident</a:t>
            </a:r>
            <a:br>
              <a:rPr sz="1200"/>
            </a:b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Narratives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ounded Rectangle 17"/>
          <p:cNvSpPr/>
          <p:nvPr/>
        </p:nvSpPr>
        <p:spPr>
          <a:xfrm>
            <a:off x="4389120" y="5212080"/>
            <a:ext cx="173664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18"/>
          <p:cNvSpPr/>
          <p:nvPr/>
        </p:nvSpPr>
        <p:spPr>
          <a:xfrm>
            <a:off x="4480560" y="530352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384-d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9"/>
          <p:cNvSpPr/>
          <p:nvPr/>
        </p:nvSpPr>
        <p:spPr>
          <a:xfrm>
            <a:off x="4480560" y="580644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Embedding</a:t>
            </a:r>
            <a:br>
              <a:rPr sz="1200"/>
            </a:b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Dimensions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20"/>
          <p:cNvSpPr/>
          <p:nvPr/>
        </p:nvSpPr>
        <p:spPr>
          <a:xfrm>
            <a:off x="6309360" y="5212080"/>
            <a:ext cx="173664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21"/>
          <p:cNvSpPr/>
          <p:nvPr/>
        </p:nvSpPr>
        <p:spPr>
          <a:xfrm>
            <a:off x="6400800" y="530352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2"/>
          <p:cNvSpPr/>
          <p:nvPr/>
        </p:nvSpPr>
        <p:spPr>
          <a:xfrm>
            <a:off x="6400800" y="580644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Safety</a:t>
            </a:r>
            <a:br>
              <a:rPr sz="1200"/>
            </a:b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Themes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23"/>
          <p:cNvSpPr/>
          <p:nvPr/>
        </p:nvSpPr>
        <p:spPr>
          <a:xfrm>
            <a:off x="8229600" y="5212080"/>
            <a:ext cx="173664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24"/>
          <p:cNvSpPr/>
          <p:nvPr/>
        </p:nvSpPr>
        <p:spPr>
          <a:xfrm>
            <a:off x="8321040" y="530352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19/19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5"/>
          <p:cNvSpPr/>
          <p:nvPr/>
        </p:nvSpPr>
        <p:spPr>
          <a:xfrm>
            <a:off x="8321040" y="580644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Evaluation</a:t>
            </a:r>
            <a:br>
              <a:rPr sz="1200"/>
            </a:b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Checks Passed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ounded Rectangle 26"/>
          <p:cNvSpPr/>
          <p:nvPr/>
        </p:nvSpPr>
        <p:spPr>
          <a:xfrm>
            <a:off x="10149840" y="5212080"/>
            <a:ext cx="173664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6E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27"/>
          <p:cNvSpPr/>
          <p:nvPr/>
        </p:nvSpPr>
        <p:spPr>
          <a:xfrm>
            <a:off x="10241280" y="530352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EB8"/>
                </a:solidFill>
                <a:effectLst/>
                <a:uFillTx/>
                <a:latin typeface="Calibri"/>
              </a:rPr>
              <a:t>9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8"/>
          <p:cNvSpPr/>
          <p:nvPr/>
        </p:nvSpPr>
        <p:spPr>
          <a:xfrm>
            <a:off x="10241280" y="5806440"/>
            <a:ext cx="1553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Dashboard</a:t>
            </a:r>
            <a:br>
              <a:rPr sz="1200"/>
            </a:b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Views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9" name="Picture 29" descr="media_1790019863627.png"/>
          <p:cNvPicPr/>
          <p:nvPr/>
        </p:nvPicPr>
        <p:blipFill>
          <a:blip r:embed="rId1"/>
          <a:stretch/>
        </p:blipFill>
        <p:spPr>
          <a:xfrm>
            <a:off x="131400" y="228600"/>
            <a:ext cx="554400" cy="68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2026-09-22T02:50:59Z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